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914400" cy="91440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Bull Invest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83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CA15A"/>
                </a:solidFill>
                <a:latin typeface="Calibri"/>
              </a:rPr>
              <a:t>All your money. One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FE9DA"/>
                </a:solidFill>
                <a:latin typeface="Calibri"/>
              </a:rPr>
              <a:t>Investor deck  ·  Concept demo (pre-seed)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Live demo: botros-1.github.io/bull-invest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1116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669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675"/>
                </a:solidFill>
                <a:latin typeface="Calibri"/>
              </a:rPr>
              <a:t>People hold money across many institutions — checking, high-yield savings, a brokerage, a 401(k), a mortgage — with no single, trustworthy place to see and manage it.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675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675"/>
                </a:solidFill>
                <a:latin typeface="Calibri"/>
              </a:rPr>
              <a:t>They also lose money to avoidable fees, and lack simple, transparent tools to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194560"/>
            <a:ext cx="4206240" cy="56692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221991"/>
            <a:ext cx="3840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1116"/>
                </a:solidFill>
                <a:latin typeface="Calibri"/>
              </a:rPr>
              <a:t>Chase checking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944368"/>
            <a:ext cx="4206240" cy="56692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971799"/>
            <a:ext cx="3840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1116"/>
                </a:solidFill>
                <a:latin typeface="Calibri"/>
              </a:rPr>
              <a:t>Wells Fargo savings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694176"/>
            <a:ext cx="4206240" cy="56692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721608"/>
            <a:ext cx="3840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1116"/>
                </a:solidFill>
                <a:latin typeface="Calibri"/>
              </a:rPr>
              <a:t>Schwab brokerage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443984"/>
            <a:ext cx="4206240" cy="56692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471416"/>
            <a:ext cx="3840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1116"/>
                </a:solidFill>
                <a:latin typeface="Calibri"/>
              </a:rPr>
              <a:t>Fidelity 401(k)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5193792"/>
            <a:ext cx="4206240" cy="566928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5221224"/>
            <a:ext cx="3840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C1116"/>
                </a:solidFill>
                <a:latin typeface="Calibri"/>
              </a:rPr>
              <a:t>Mortgage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9893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1">
                <a:solidFill>
                  <a:srgbClr val="077A43"/>
                </a:solidFill>
                <a:latin typeface="Calibri"/>
              </a:rPr>
              <a:t>5 apps. 5 logins. No clear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1116"/>
                </a:solidFill>
                <a:latin typeface="Calibri"/>
              </a:rPr>
              <a:t>One app for all of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12080" cy="1783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606039"/>
            <a:ext cx="310896" cy="310896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All banks in one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Every account from every institution, unified and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5212080" cy="1783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2606039"/>
            <a:ext cx="310896" cy="310896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04495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Zero ATM fees worldwide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7472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Automatic surcharge reimbursement — the proven Schwab/Fidelity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5212080" cy="1783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4709159"/>
            <a:ext cx="310896" cy="310896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480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Plan with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Investment, loan, retirement &amp; savings calculators — unit-tested.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434840"/>
            <a:ext cx="5212080" cy="1783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48272" y="4709159"/>
            <a:ext cx="310896" cy="310896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1480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Built for everyone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577840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6 languages (incl. Arabic RTL), WCAG-AA accessibility, dark mode, installable.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C1116"/>
                </a:solidFill>
                <a:latin typeface="Calibri"/>
              </a:rPr>
              <a:t>Engagement built in — already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675"/>
                </a:solidFill>
                <a:latin typeface="Calibri"/>
              </a:rPr>
              <a:t>Retention features from 2026 PFM research are already live in the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33832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CA15A"/>
                </a:solidFill>
                <a:latin typeface="Calibri"/>
              </a:rPr>
              <a:t>+27%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116"/>
                </a:solidFill>
                <a:latin typeface="Calibri"/>
              </a:rPr>
              <a:t>Daily active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Personalized insights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08960"/>
            <a:ext cx="33832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429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CA15A"/>
                </a:solidFill>
                <a:latin typeface="Calibri"/>
              </a:rPr>
              <a:t>+32%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116"/>
                </a:solidFill>
                <a:latin typeface="Calibri"/>
              </a:rPr>
              <a:t>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8006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Gamified goals, streaks &amp; levels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108960"/>
            <a:ext cx="33832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4290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CA15A"/>
                </a:solidFill>
                <a:latin typeface="Calibri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C1116"/>
                </a:solidFill>
                <a:latin typeface="Calibri"/>
              </a:rPr>
              <a:t>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0060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Category spend vs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large, fast-growing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A15A"/>
                </a:solidFill>
                <a:latin typeface="Calibri"/>
              </a:rPr>
              <a:t>$310–385B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E9DA"/>
                </a:solidFill>
                <a:latin typeface="Calibri"/>
              </a:rPr>
              <a:t>2026 neobanking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74320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A15A"/>
                </a:solidFill>
                <a:latin typeface="Calibri"/>
              </a:rPr>
              <a:t>~36–46%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3749039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E9DA"/>
                </a:solidFill>
                <a:latin typeface="Calibri"/>
              </a:rPr>
              <a:t>CAGR toward 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A15A"/>
                </a:solidFill>
                <a:latin typeface="Calibri"/>
              </a:rPr>
              <a:t>400M+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E9DA"/>
                </a:solidFill>
                <a:latin typeface="Calibri"/>
              </a:rPr>
              <a:t>neobank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274320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A15A"/>
                </a:solidFill>
                <a:latin typeface="Calibri"/>
              </a:rP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3749039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FE9DA"/>
                </a:solidFill>
                <a:latin typeface="Calibri"/>
              </a:rPr>
              <a:t>is personal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675"/>
                </a:solidFill>
                <a:latin typeface="Calibri"/>
              </a:rPr>
              <a:t>Sources: Precedence Research; Grand View Research; Research and Markets (2026).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1116"/>
                </a:solidFill>
                <a:latin typeface="Calibri"/>
              </a:rPr>
              <a:t>Why Bull Invest wins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C1116"/>
                </a:solidFill>
                <a:latin typeface="Calibri"/>
              </a:rPr>
              <a:t>Aggregation + cash in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Most apps either track accounts (Mint/Monarch) or are a neobank. Bull Invest combines both.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94759"/>
            <a:ext cx="457200" cy="457200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C1116"/>
                </a:solidFill>
                <a:latin typeface="Calibri"/>
              </a:rPr>
              <a:t>Fee elimination as the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Zero ATM fees is a concrete, provable promise that drives adoption.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C1116"/>
                </a:solidFill>
                <a:latin typeface="Calibri"/>
              </a:rPr>
              <a:t>Engagement + trust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4864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675"/>
                </a:solidFill>
                <a:latin typeface="Calibri"/>
              </a:rPr>
              <a:t>Gamification, accessibility and 6 languages widen the addressable market.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C1116"/>
                </a:solidFill>
                <a:latin typeface="Calibri"/>
              </a:rPr>
              <a:t>How it makes money (potential)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83280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743200"/>
            <a:ext cx="310896" cy="310896"/>
          </a:xfrm>
          <a:prstGeom prst="ellipse">
            <a:avLst/>
          </a:prstGeom>
          <a:solidFill>
            <a:srgbClr val="C8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821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Interchange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Debit-card interchange on the in-app Bull Cash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383280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2312" y="2743200"/>
            <a:ext cx="310896" cy="310896"/>
          </a:xfrm>
          <a:prstGeom prst="ellipse">
            <a:avLst/>
          </a:prstGeom>
          <a:solidFill>
            <a:srgbClr val="C8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1821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Premium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611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Advanced planning, multi-user / household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383280" cy="2194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2743200"/>
            <a:ext cx="310896" cy="310896"/>
          </a:xfrm>
          <a:prstGeom prst="ellipse">
            <a:avLst/>
          </a:prstGeom>
          <a:solidFill>
            <a:srgbClr val="C8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1821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Referrals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675"/>
                </a:solidFill>
                <a:latin typeface="Calibri"/>
              </a:rPr>
              <a:t>Revenue for vetted, relevant financial products.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675"/>
                </a:solidFill>
                <a:latin typeface="Calibri"/>
              </a:rPr>
              <a:t>Pre-revenue at concept stage.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548640" cy="54864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4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C1116"/>
                </a:solidFill>
                <a:latin typeface="Calibri"/>
              </a:rPr>
              <a:t>Status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77A43"/>
                </a:solidFill>
                <a:latin typeface="Calibri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675"/>
                </a:solidFill>
                <a:latin typeface="Calibri"/>
              </a:rPr>
              <a:t>Working interactive demo: multi-bank dashboard, calculators, 6 languages, gamified goals, budget view, installable app, automated tests passing.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675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675"/>
                </a:solidFill>
                <a:latin typeface="Calibri"/>
              </a:rPr>
              <a:t>Not yet a licensed bank.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77A43"/>
                </a:solidFill>
                <a:latin typeface="Calibri"/>
              </a:rPr>
              <a:t>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43200"/>
            <a:ext cx="4572000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926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Angel Gallegos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337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675"/>
                </a:solidFill>
                <a:latin typeface="Calibri"/>
              </a:rPr>
              <a:t>Idea &amp; concept originator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977639"/>
            <a:ext cx="4572000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1605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1116"/>
                </a:solidFill>
                <a:latin typeface="Calibri"/>
              </a:rPr>
              <a:t>Botros Saleb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572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675"/>
                </a:solidFill>
                <a:latin typeface="Calibri"/>
              </a:rPr>
              <a:t>Built, developed &amp; tested — A to 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731520" cy="731520"/>
          </a:xfrm>
          <a:prstGeom prst="roundRect">
            <a:avLst/>
          </a:prstGeom>
          <a:solidFill>
            <a:srgbClr val="0C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FE9DA"/>
                </a:solidFill>
                <a:latin typeface="Calibri"/>
              </a:rPr>
              <a:t>Seeking early feedback and partners to validate with users and scope an MVP: a Plaid-based aggregation pilot, a banking/BaaS partner for the cash account, and fintech-legal guidance on licensing.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937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CA15A"/>
                </a:solidFill>
                <a:latin typeface="Calibri"/>
              </a:rPr>
              <a:t>Try the live demo:  botros-1.github.io/bull-invest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675"/>
                </a:solidFill>
                <a:latin typeface="Calibri"/>
              </a:rPr>
              <a:t>Concept demonstration. All figures and account data are illustrative sample data. Not affiliated with any bank; not financial advice; does not handle real funds.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